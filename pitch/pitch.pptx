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0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Benvenuti a Milano: chi arriva in città ci dice chi è, nella sua lingua, e riceve un piano personale. Cosa fare, in che ordine e dove, con le fonti ufficiali.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 è arrivata ieri dal Brasile per un master al Politecnico. Entro otto giorni lavorativi deve chiedere il permesso di soggiorno, entro venti la residenza, poi sanità e TARI. Le regole sono sparse tra Questura, Poste, Comune e Regione, in italiano, e a volte si contraddicono: per la stessa quota sanitaria una fonte dice 700 euro, un'altra 149,77. Nessuno le dice l'ordine.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Prima della demo: Ana scrive, detta o compila le schede. Claude capisce e prepara la scheda, lei la conferma. Poi il piano: date calcolate dal codice, fonti, affidabilità di ogni passo, l'anagrafe più vicina dagli open data del Comune e un QR per ogni passo. Allo sportello l'operatrice apre il piano dal QR e approva la risposta che Claude ha preparato con le fonti. [Demo dal vivo, 60 secondi]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ogni uso lavora Claude Sonnet 5.5, come agente con cinque tool. Capisce la persona in qualsiasi lingua, decide cosa chiedere, ragiona su 14 profili e 41 procedure e costruisce il piano. Il server controlla che procedure, ordine, date e fonti siano giusti. Decidono le persone: il cittadino conferma il profilo, l'operatore approva le risposte. Spegni l'AI: resta solo un catalogo.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 accenderlo domani si parte da quello che il Comune ha già: le email ai nuovi residenti, il percorso YesMilano, gli open data. Servono una redazione del catalogo, alimentata dalle segnalazioni degli sportelli, una chiave API e l'accesso per gli operatori. Nessun dato conservato: un codice anonimo e il piano in PDF. Versione 2: promemoria prima delle scadenze, con il consenso della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737360"/>
            <a:ext cx="6949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2338A8"/>
                </a:solidFill>
                <a:latin typeface="Calibri"/>
              </a:rPr>
              <a:t>Benvenuti a Milano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6766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5202B"/>
                </a:solidFill>
                <a:latin typeface="Calibri"/>
              </a:rPr>
              <a:t>Ti diciamo cosa fare, in che ordine e dove, nella tua lingua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5561"/>
                </a:solidFill>
                <a:latin typeface="Calibri"/>
              </a:rPr>
              <a:t>Track 01 · Claude Impact Lab Milano · 3 ottobre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7F8FE"/>
          </a:solidFill>
          <a:ln w="25400">
            <a:solidFill>
              <a:srgbClr val="233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49640" y="2103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5561"/>
                </a:solidFill>
                <a:latin typeface="Calibri"/>
              </a:rPr>
              <a:t>Codice del percorso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56032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5202B"/>
                </a:solidFill>
                <a:latin typeface="Courier New"/>
              </a:rPr>
              <a:t>MI-7K4Q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832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5561"/>
                </a:solidFill>
                <a:latin typeface="Calibri"/>
              </a:rPr>
              <a:t>Nessun nome, nessun documento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5202B"/>
                </a:solidFill>
                <a:latin typeface="Calibri"/>
              </a:rPr>
              <a:t>Il 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943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5943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338A8"/>
                </a:solidFill>
                <a:latin typeface="Calibri"/>
              </a:rPr>
              <a:t>20″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15202B"/>
                </a:solidFill>
                <a:latin typeface="Calibri"/>
              </a:rPr>
              <a:t>Ana è arrivata ieri dal Brasile per un master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25603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2338A8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5204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15202B"/>
                </a:solidFill>
                <a:latin typeface="Calibri"/>
              </a:rPr>
              <a:t>giorni lavorativi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5202B"/>
                </a:solidFill>
                <a:latin typeface="Calibri"/>
              </a:rPr>
              <a:t>permesso di soggiorno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25603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2338A8"/>
                </a:solidFill>
                <a:latin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5204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15202B"/>
                </a:solidFill>
                <a:latin typeface="Calibri"/>
              </a:rPr>
              <a:t>giorni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5202B"/>
                </a:solidFill>
                <a:latin typeface="Calibri"/>
              </a:rPr>
              <a:t>residenza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37744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199" y="25603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2338A8"/>
                </a:solidFill>
                <a:latin typeface="Calibri"/>
              </a:rPr>
              <a:t>poi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35204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5202B"/>
                </a:solidFill>
                <a:latin typeface="Calibri"/>
              </a:rPr>
              <a:t>sanità e TARI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5202B"/>
                </a:solidFill>
                <a:latin typeface="Calibri"/>
              </a:rPr>
              <a:t>Questura · Poste · Comune · Regione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4A5561"/>
                </a:solidFill>
                <a:latin typeface="Calibri"/>
              </a:rPr>
              <a:t>in italiano, a volte in contraddizione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709160"/>
            <a:ext cx="4892040" cy="1234440"/>
          </a:xfrm>
          <a:prstGeom prst="roundRect">
            <a:avLst>
              <a:gd name="adj" fmla="val 8000"/>
            </a:avLst>
          </a:prstGeom>
          <a:solidFill>
            <a:srgbClr val="FB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484632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A3221A"/>
                </a:solidFill>
                <a:latin typeface="Calibri"/>
              </a:rPr>
              <a:t>Fonti in conflitto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15202B"/>
                </a:solidFill>
                <a:latin typeface="Calibri"/>
              </a:rPr>
              <a:t>Stessa quota sanitaria: 700 € o 149,77 €?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5202B"/>
                </a:solidFill>
                <a:latin typeface="Calibri"/>
              </a:rPr>
              <a:t>Come funziona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943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5943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338A8"/>
                </a:solidFill>
                <a:latin typeface="Calibri"/>
              </a:rPr>
              <a:t>60″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60320" cy="356616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338A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Scrive, detta o compila le schede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5561"/>
                </a:solidFill>
                <a:latin typeface="Calibri"/>
              </a:rPr>
              <a:t>nella sua lingua, senza nome né documenti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560320" cy="356616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49039" y="1965960"/>
            <a:ext cx="685800" cy="685800"/>
          </a:xfrm>
          <a:prstGeom prst="ellipse">
            <a:avLst/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338A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88036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Claude prepara la scheda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9476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5561"/>
                </a:solidFill>
                <a:latin typeface="Calibri"/>
              </a:rPr>
              <a:t>lei la controlla e la conferma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560320" cy="356616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83680" y="1965960"/>
            <a:ext cx="685800" cy="685800"/>
          </a:xfrm>
          <a:prstGeom prst="ellipse">
            <a:avLst/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338A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8036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Il piano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9476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5561"/>
                </a:solidFill>
                <a:latin typeface="Calibri"/>
              </a:rPr>
              <a:t>date, fonti, affidabilità, ufficio più vicino dagli open data, un QR per passo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737360"/>
            <a:ext cx="2560320" cy="356616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18320" y="1965960"/>
            <a:ext cx="685800" cy="685800"/>
          </a:xfrm>
          <a:prstGeom prst="ellipse">
            <a:avLst/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338A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8036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Allo sportello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794760"/>
            <a:ext cx="2057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5561"/>
                </a:solidFill>
                <a:latin typeface="Calibri"/>
              </a:rPr>
              <a:t>l'operatrice apre il piano dal QR e approva la risposta di Claude, con le fonti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150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D6B3F"/>
                </a:solidFill>
                <a:latin typeface="Calibri"/>
              </a:rPr>
              <a:t>Fonte ufficiale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57150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57150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A3221A"/>
                </a:solidFill>
                <a:latin typeface="Calibri"/>
              </a:rPr>
              <a:t>Fonti in conflitto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57150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960" y="57150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338A8"/>
                </a:solidFill>
                <a:latin typeface="Calibri"/>
              </a:rPr>
              <a:t>MI-7K4Q-3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lanIO">
            <a:hlinkClick r:id="" action="ppaction://media"/>
            <a:extLst>
              <a:ext uri="{FF2B5EF4-FFF2-40B4-BE49-F238E27FC236}">
                <a16:creationId xmlns:a16="http://schemas.microsoft.com/office/drawing/2014/main" id="{6C88B9F4-CC4A-43B1-D8FB-223B7CA748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365125"/>
            <a:ext cx="12192000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74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5202B"/>
                </a:solidFill>
                <a:latin typeface="Calibri"/>
              </a:rPr>
              <a:t>Dove lavora Claude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943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5943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338A8"/>
                </a:solidFill>
                <a:latin typeface="Calibri"/>
              </a:rPr>
              <a:t>20″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669280" cy="3566160"/>
          </a:xfrm>
          <a:prstGeom prst="roundRect">
            <a:avLst>
              <a:gd name="adj" fmla="val 8000"/>
            </a:avLst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51206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2338A8"/>
                </a:solidFill>
                <a:latin typeface="Calibri"/>
              </a:rPr>
              <a:t>Claude Sonnet 5.5, agente con 5 tool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5202B"/>
                </a:solidFill>
                <a:latin typeface="Calibri"/>
              </a:rPr>
              <a:t>Capisce in qualsiasi lingua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5202B"/>
                </a:solidFill>
                <a:latin typeface="Calibri"/>
              </a:rPr>
              <a:t>Decide cosa chiedere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5202B"/>
                </a:solidFill>
                <a:latin typeface="Calibri"/>
              </a:rPr>
              <a:t>Ragiona su 14 profili e 41 procedure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5202B"/>
                </a:solidFill>
                <a:latin typeface="Calibri"/>
              </a:rPr>
              <a:t>Costruisce il piano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4983480" cy="164592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Il server controlla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5202B"/>
                </a:solidFill>
                <a:latin typeface="Calibri"/>
              </a:rPr>
              <a:t>procedure, ordine, date e fonti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474720"/>
            <a:ext cx="4983480" cy="164592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365760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Decidono le persone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5202B"/>
                </a:solidFill>
                <a:latin typeface="Calibri"/>
              </a:rPr>
              <a:t>il cittadino conferma il profilo, l'operatore approva le risposte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1">
                <a:solidFill>
                  <a:srgbClr val="2338A8"/>
                </a:solidFill>
                <a:latin typeface="Calibri"/>
              </a:rPr>
              <a:t>«Spegni l'AI: resta solo un catalogo.»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5202B"/>
                </a:solidFill>
                <a:latin typeface="Calibri"/>
              </a:rPr>
              <a:t>Day 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943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5943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338A8"/>
                </a:solidFill>
                <a:latin typeface="Calibri"/>
              </a:rPr>
              <a:t>20″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594360" cy="594360"/>
          </a:xfrm>
          <a:prstGeom prst="ellipse">
            <a:avLst/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338A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Parte da ciò che c'è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971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Email ai nuovi residenti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Percorso YesMilano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Open data del Comune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783080"/>
            <a:ext cx="594360" cy="594360"/>
          </a:xfrm>
          <a:prstGeom prst="ellipse">
            <a:avLst/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338A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2971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Una redazione del catalogo, alimentata dagli sportelli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Una chiave API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Accesso per gli operatori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55448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1783080"/>
            <a:ext cx="594360" cy="594360"/>
          </a:xfrm>
          <a:prstGeom prst="ellipse">
            <a:avLst/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338A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202B"/>
                </a:solidFill>
                <a:latin typeface="Calibri"/>
              </a:rPr>
              <a:t>Nessun dato conservato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2971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Codice anonimo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4A5561"/>
                </a:solidFill>
                <a:latin typeface="Calibri"/>
              </a:rPr>
              <a:t>Piano in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10927080" cy="731520"/>
          </a:xfrm>
          <a:prstGeom prst="roundRect">
            <a:avLst>
              <a:gd name="adj" fmla="val 50000"/>
            </a:avLst>
          </a:prstGeom>
          <a:solidFill>
            <a:srgbClr val="E8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338A8"/>
                </a:solidFill>
                <a:latin typeface="Calibri"/>
              </a:rPr>
              <a:t>Versione 2: promemoria prima delle scadenze, con il consenso della persona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630</Words>
  <Application>Microsoft Office PowerPoint</Application>
  <PresentationFormat>Widescreen</PresentationFormat>
  <Paragraphs>72</Paragraphs>
  <Slides>6</Slides>
  <Notes>5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Alessandro Zanin</cp:lastModifiedBy>
  <cp:revision>3</cp:revision>
  <dcterms:created xsi:type="dcterms:W3CDTF">2013-01-27T09:14:16Z</dcterms:created>
  <dcterms:modified xsi:type="dcterms:W3CDTF">2026-10-03T14:10:02Z</dcterms:modified>
  <cp:category/>
</cp:coreProperties>
</file>